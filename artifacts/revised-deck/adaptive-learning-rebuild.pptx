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b95475b3d3147bc" /><Relationship Type="http://schemas.openxmlformats.org/officeDocument/2006/relationships/extended-properties" Target="/docProps/app.xml" Id="R7e746485b9374a08" /><Relationship Type="http://schemas.openxmlformats.org/officeDocument/2006/relationships/officeDocument" Target="/ppt/presentation.xml" Id="R36f821383ee9457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1378a5c0d1c4b32"/>
  </p:sldMasterIdLst>
  <p:notesMasterIdLst>
    <p:notesMasterId xmlns:r="http://schemas.openxmlformats.org/officeDocument/2006/relationships" r:id="R2654da1a42d14943"/>
  </p:notesMasterIdLst>
  <p:sldIdLst>
    <p:sldId xmlns:r="http://schemas.openxmlformats.org/officeDocument/2006/relationships" id="256" r:id="R42ef2c89cf1d471b"/>
    <p:sldId xmlns:r="http://schemas.openxmlformats.org/officeDocument/2006/relationships" id="257" r:id="R349d734eba494e19"/>
    <p:sldId xmlns:r="http://schemas.openxmlformats.org/officeDocument/2006/relationships" id="258" r:id="Ree6164af7c84490f"/>
    <p:sldId xmlns:r="http://schemas.openxmlformats.org/officeDocument/2006/relationships" id="259" r:id="R38d7c1f7e48b4126"/>
    <p:sldId xmlns:r="http://schemas.openxmlformats.org/officeDocument/2006/relationships" id="260" r:id="R365d0f03007d46fb"/>
    <p:sldId xmlns:r="http://schemas.openxmlformats.org/officeDocument/2006/relationships" id="261" r:id="Rf6b7072bd1584c6a"/>
    <p:sldId xmlns:r="http://schemas.openxmlformats.org/officeDocument/2006/relationships" id="262" r:id="R81ef00d03b3e4950"/>
    <p:sldId xmlns:r="http://schemas.openxmlformats.org/officeDocument/2006/relationships" id="263" r:id="Rdf1b95a3d700482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6b80cc0230448f4" /><Relationship Type="http://schemas.openxmlformats.org/officeDocument/2006/relationships/slideMaster" Target="/ppt/slideMasters/slideMaster1.xml" Id="R31378a5c0d1c4b32" /><Relationship Type="http://schemas.openxmlformats.org/officeDocument/2006/relationships/notesMaster" Target="/ppt/notesMasters/notesMaster1.xml" Id="R2654da1a42d14943" /><Relationship Type="http://schemas.openxmlformats.org/officeDocument/2006/relationships/presProps" Target="/ppt/presProps.xml" Id="R020212f83bf142cd" /><Relationship Type="http://schemas.openxmlformats.org/officeDocument/2006/relationships/tableStyles" Target="/ppt/tableStyles.xml" Id="R3c79050dd9e04d96" /><Relationship Type="http://schemas.openxmlformats.org/officeDocument/2006/relationships/slide" Target="/ppt/slides/slide1.xml" Id="R42ef2c89cf1d471b" /><Relationship Type="http://schemas.openxmlformats.org/officeDocument/2006/relationships/slide" Target="/ppt/slides/slide2.xml" Id="R349d734eba494e19" /><Relationship Type="http://schemas.openxmlformats.org/officeDocument/2006/relationships/slide" Target="/ppt/slides/slide3.xml" Id="Ree6164af7c84490f" /><Relationship Type="http://schemas.openxmlformats.org/officeDocument/2006/relationships/slide" Target="/ppt/slides/slide4.xml" Id="R38d7c1f7e48b4126" /><Relationship Type="http://schemas.openxmlformats.org/officeDocument/2006/relationships/slide" Target="/ppt/slides/slide5.xml" Id="R365d0f03007d46fb" /><Relationship Type="http://schemas.openxmlformats.org/officeDocument/2006/relationships/slide" Target="/ppt/slides/slide6.xml" Id="Rf6b7072bd1584c6a" /><Relationship Type="http://schemas.openxmlformats.org/officeDocument/2006/relationships/slide" Target="/ppt/slides/slide7.xml" Id="R81ef00d03b3e4950" /><Relationship Type="http://schemas.openxmlformats.org/officeDocument/2006/relationships/slide" Target="/ppt/slides/slide8.xml" Id="Rdf1b95a3d700482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bd876507c72400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2bb114524f1435d" /><Relationship Type="http://schemas.openxmlformats.org/officeDocument/2006/relationships/notesMaster" Target="/ppt/notesMasters/notesMaster1.xml" Id="R9d50f2112a824f2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2b156cf1c9f45a6" /><Relationship Type="http://schemas.openxmlformats.org/officeDocument/2006/relationships/notesMaster" Target="/ppt/notesMasters/notesMaster1.xml" Id="Rab66bfdc70164fe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2adf8fa74ca4efd" /><Relationship Type="http://schemas.openxmlformats.org/officeDocument/2006/relationships/notesMaster" Target="/ppt/notesMasters/notesMaster1.xml" Id="R167dcabd4636440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4274e04b47245ec" /><Relationship Type="http://schemas.openxmlformats.org/officeDocument/2006/relationships/notesMaster" Target="/ppt/notesMasters/notesMaster1.xml" Id="Rec0b8f4016504c1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4ad3070571a4999" /><Relationship Type="http://schemas.openxmlformats.org/officeDocument/2006/relationships/notesMaster" Target="/ppt/notesMasters/notesMaster1.xml" Id="Rd6f85787f1a2487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3df5489f9b644ec" /><Relationship Type="http://schemas.openxmlformats.org/officeDocument/2006/relationships/notesMaster" Target="/ppt/notesMasters/notesMaster1.xml" Id="Rdd70ba4e932944c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918464ead6d468b" /><Relationship Type="http://schemas.openxmlformats.org/officeDocument/2006/relationships/notesMaster" Target="/ppt/notesMasters/notesMaster1.xml" Id="R0ffe6fe99dcb400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f665fea5ecc48ae" /><Relationship Type="http://schemas.openxmlformats.org/officeDocument/2006/relationships/notesMaster" Target="/ppt/notesMasters/notesMaster1.xml" Id="R58fcd97c36e6462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verified local browser evidence in docs/verification.md. The screenshot is an observed application state, not a study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original final.pptx scope, README.md, docs/decisions.md, and the interpretation note shown in the app. No emotion classification or comprehension claim is made.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Screenshot: artifacts/screenshots/latest-lesson.png, captured from the live localhost application at 390×844. The app uses a camera-optional path and keeps the reading workspace usable on narrow screens.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backend/app/main.py decision policy and the acceptance criteria in the rebuild plan. The smoothed score is (sum of completed follow-up correctness + 1) / (completed follow-ups + 2).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README.md, backend/app/db.py, backend/app/main.py, and src/faceWorker.ts. MediaPipe reference: https://developers.google.com/edge/api/mediapipe/js/tasks-vision.facelandmarker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docs/verification.md. The nine flows covered linear search, binary search, and bubble sort in static, rule-based, and personalized modes. The camera screenshot shows the unavailable-device path; the results screenshot is a technical practice session and is not a volunteer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docs/demo-script.md and the personalized Linear Search browser trace recorded in docs/verification.md. The saved rows are practice/demo observations, not participant-study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EVALUATION.md, docs/implementation-status.md, docs/report-template.md, and docs/verification.md. This slide intentionally leaves human evidence pending.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6eea3334d44f8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af3cd9621df4c0c" /><Relationship Type="http://schemas.openxmlformats.org/officeDocument/2006/relationships/slideLayout" Target="/ppt/slideLayouts/slideLayout1.xml" Id="R1a418821efd14a8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a418821efd14a8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0feab6a3ca40d3" /><Relationship Type="http://schemas.openxmlformats.org/officeDocument/2006/relationships/image" Target="/ppt/media/image.png" Id="Rb5991acf91f246c1" /><Relationship Type="http://schemas.openxmlformats.org/officeDocument/2006/relationships/notesSlide" Target="/ppt/notesSlides/notesSlide1.xml" Id="Rbe7cfdfdf78b4cb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9af37cf7f34c14" /><Relationship Type="http://schemas.openxmlformats.org/officeDocument/2006/relationships/notesSlide" Target="/ppt/notesSlides/notesSlide2.xml" Id="R4f9054c6487b441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7ed1a6a53d4e13" /><Relationship Type="http://schemas.openxmlformats.org/officeDocument/2006/relationships/image" Target="/ppt/media/image2.png" Id="R5d4be420445f4068" /><Relationship Type="http://schemas.openxmlformats.org/officeDocument/2006/relationships/notesSlide" Target="/ppt/notesSlides/notesSlide3.xml" Id="R81b7397de0c4427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41e5c4e69b4c3d" /><Relationship Type="http://schemas.openxmlformats.org/officeDocument/2006/relationships/notesSlide" Target="/ppt/notesSlides/notesSlide4.xml" Id="Rf80079cb77ec47d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9c8df90ddb4db9" /><Relationship Type="http://schemas.openxmlformats.org/officeDocument/2006/relationships/notesSlide" Target="/ppt/notesSlides/notesSlide5.xml" Id="R1da1d0de3eaf46b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3601c5ba154378" /><Relationship Type="http://schemas.openxmlformats.org/officeDocument/2006/relationships/image" Target="/ppt/media/image3.png" Id="R8bee86be4e814647" /><Relationship Type="http://schemas.openxmlformats.org/officeDocument/2006/relationships/image" Target="/ppt/media/image4.png" Id="Rfb01effd637e48e2" /><Relationship Type="http://schemas.openxmlformats.org/officeDocument/2006/relationships/notesSlide" Target="/ppt/notesSlides/notesSlide6.xml" Id="Rd0cf9fb0c9df4b1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6ed0e789c14ea9" /><Relationship Type="http://schemas.openxmlformats.org/officeDocument/2006/relationships/notesSlide" Target="/ppt/notesSlides/notesSlide7.xml" Id="R81986cee4c3146a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066901928a4de2" /><Relationship Type="http://schemas.openxmlformats.org/officeDocument/2006/relationships/notesSlide" Target="/ppt/notesSlides/notesSlide8.xml" Id="R33383d457288426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9B2991-BBF7-4A81-B4D0-894ED6656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F84172-DFBA-4C86-AED9-C458BAA87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57250"/>
            <a:ext cx="762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714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3A912E-59C7-45B8-8E8D-6A710CD77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144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1E6D6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E6D63"/>
                </a:solidFill>
                <a:latin typeface="Arial"/>
                <a:ea typeface="Arial"/>
                <a:cs typeface="Arial"/>
              </a:rPr>
              <a:t>ADAPTIVE LEARNING LOOP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320258-7F55-4B1B-9D23-92212109C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33500"/>
            <a:ext cx="7048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17282A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17282A"/>
                </a:solidFill>
                <a:latin typeface="Arial"/>
                <a:ea typeface="Arial"/>
                <a:cs typeface="Arial"/>
              </a:rPr>
              <a:t>A working closed loop</a:t>
            </a:r>
          </a:p>
          <a:p xmlns:a="http://schemas.openxmlformats.org/drawingml/2006/main">
            <a:pPr>
              <a:defRPr sz="4050" b="1" i="0">
                <a:solidFill>
                  <a:srgbClr val="17282A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17282A"/>
                </a:solidFill>
                <a:latin typeface="Arial"/>
                <a:ea typeface="Arial"/>
                <a:cs typeface="Arial"/>
              </a:rPr>
              <a:t>for algorithm learning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637E62-BB92-4707-AB60-9EE5CB605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24200"/>
            <a:ext cx="561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597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8706E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8706E"/>
                </a:solidFill>
                <a:latin typeface="Arial"/>
                <a:ea typeface="Arial"/>
                <a:cs typeface="Arial"/>
              </a:rPr>
              <a:t>Technical rebuild, browser evidence, and the remaining study handoff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D90C23-345B-487C-BE1E-F7A1FC032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123950"/>
            <a:ext cx="3429000" cy="40005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4DDD7"/>
            </a:solidFill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991acf91f246c1"/>
          <a:srcRect xmlns:a="http://schemas.openxmlformats.org/drawingml/2006/main" l="207" t="0" r="20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0" y="1409700"/>
            <a:ext cx="2857500" cy="2381250"/>
          </a:xfrm>
          <a:prstGeom xmlns:a="http://schemas.openxmlformats.org/drawingml/2006/main" prst="roundRect">
            <a:avLst>
              <a:gd name="adj" fmla="val 480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4ED74C-A25F-4CA9-A65A-3BE19997C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95750"/>
            <a:ext cx="819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1E6D6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E6D63"/>
                </a:solidFill>
                <a:latin typeface="Arial"/>
                <a:ea typeface="Arial"/>
                <a:cs typeface="Arial"/>
              </a:rPr>
              <a:t>observe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B7FB0F-2983-45AE-80E0-4140B2780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95750"/>
            <a:ext cx="819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1E6D6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E6D63"/>
                </a:solidFill>
                <a:latin typeface="Arial"/>
                <a:ea typeface="Arial"/>
                <a:cs typeface="Arial"/>
              </a:rPr>
              <a:t>estimate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CC5FE4-74B8-46D6-B149-FB3FB01BD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095750"/>
            <a:ext cx="819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1E6D6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E6D63"/>
                </a:solidFill>
                <a:latin typeface="Arial"/>
                <a:ea typeface="Arial"/>
                <a:cs typeface="Arial"/>
              </a:rPr>
              <a:t>support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5B6B3B-0A63-452B-B2A7-F3B840D11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1912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58706E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8706E"/>
                </a:solidFill>
                <a:latin typeface="Arial"/>
                <a:ea typeface="Arial"/>
                <a:cs typeface="Arial"/>
              </a:rPr>
              <a:t>September 2026 · local academic prototype</a:t>
            </a:r>
          </a:p>
        </p:txBody>
      </p:sp>
    </p:spTree>
    <p:extLst>
      <p:ext uri="{BB962C8B-B14F-4D97-AF65-F5344CB8AC3E}">
        <p14:creationId xmlns:p14="http://schemas.microsoft.com/office/powerpoint/2010/main" val="11989209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A8F5A8-8C2B-46D6-AA22-AC9A10DB3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1E6D6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E6D63"/>
                </a:solidFill>
                <a:latin typeface="Arial"/>
                <a:ea typeface="Arial"/>
                <a:cs typeface="Arial"/>
              </a:rPr>
              <a:t>PROJECT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5DA54B-361A-4FE0-B914-67AD08212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17282A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7282A"/>
                </a:solidFill>
                <a:latin typeface="Arial"/>
                <a:ea typeface="Arial"/>
                <a:cs typeface="Arial"/>
              </a:rPr>
              <a:t>A small learning study with a complete software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BA17DF-A063-44D6-AB5F-05ADA4925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716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8706E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8706E"/>
                </a:solidFill>
                <a:latin typeface="Arial"/>
                <a:ea typeface="Arial"/>
                <a:cs typeface="Arial"/>
              </a:rPr>
              <a:t>Three algorithms, three modes, and a policy that stays explainable.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D6F8B8-FF75-4F10-9316-BC278BB55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49530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4DDD7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41EDCD-BAC4-4309-BB38-CEFBC7F40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6220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7282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7282A"/>
                </a:solidFill>
                <a:latin typeface="Arial"/>
                <a:ea typeface="Arial"/>
                <a:cs typeface="Arial"/>
              </a:rPr>
              <a:t>The learner can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E0C9C8-35DC-4193-9794-2FE823836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0350"/>
            <a:ext cx="4095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24383A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4383A"/>
                </a:solidFill>
                <a:latin typeface="Arial"/>
                <a:ea typeface="Arial"/>
                <a:cs typeface="Arial"/>
              </a:rPr>
              <a:t>• choose linear search, binary search, or bubble sort</a:t>
            </a:r>
          </a:p>
          <a:p xmlns:a="http://schemas.openxmlformats.org/drawingml/2006/main">
            <a:pPr>
              <a:defRPr sz="1425" b="0" i="0">
                <a:solidFill>
                  <a:srgbClr val="24383A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4383A"/>
                </a:solidFill>
                <a:latin typeface="Arial"/>
                <a:ea typeface="Arial"/>
                <a:cs typeface="Arial"/>
              </a:rPr>
              <a:t>• complete pre-test, instruction, checkpoints, and post-test</a:t>
            </a:r>
          </a:p>
          <a:p xmlns:a="http://schemas.openxmlformats.org/drawingml/2006/main">
            <a:pPr>
              <a:defRPr sz="1425" b="0" i="0">
                <a:solidFill>
                  <a:srgbClr val="24383A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4383A"/>
                </a:solidFill>
                <a:latin typeface="Arial"/>
                <a:ea typeface="Arial"/>
                <a:cs typeface="Arial"/>
              </a:rPr>
              <a:t>• request, accept, dismiss, or skip support</a:t>
            </a:r>
          </a:p>
          <a:p xmlns:a="http://schemas.openxmlformats.org/drawingml/2006/main">
            <a:pPr>
              <a:defRPr sz="1425" b="0" i="0">
                <a:solidFill>
                  <a:srgbClr val="24383A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4383A"/>
                </a:solidFill>
                <a:latin typeface="Arial"/>
                <a:ea typeface="Arial"/>
                <a:cs typeface="Arial"/>
              </a:rPr>
              <a:t>• resume a saved session and inspect its trace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D3CC28-B272-4AE9-8B4F-72F74BA30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95500"/>
            <a:ext cx="55245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E5EFE9"/>
          </a:solidFill>
          <a:ln xmlns:a="http://schemas.openxmlformats.org/drawingml/2006/main" w="9525">
            <a:solidFill>
              <a:srgbClr val="D4DDD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DDB7E1-8464-4A84-B702-F8DAA271A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6220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7282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7282A"/>
                </a:solidFill>
                <a:latin typeface="Arial"/>
                <a:ea typeface="Arial"/>
                <a:cs typeface="Arial"/>
              </a:rPr>
              <a:t>Guardrails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95F253-D8AE-41CB-B60B-07D8CD4BF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00350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24383A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4383A"/>
                </a:solidFill>
                <a:latin typeface="Arial"/>
                <a:ea typeface="Arial"/>
                <a:cs typeface="Arial"/>
              </a:rPr>
              <a:t>• camera signals describe observable context only</a:t>
            </a:r>
          </a:p>
          <a:p xmlns:a="http://schemas.openxmlformats.org/drawingml/2006/main">
            <a:pPr>
              <a:defRPr sz="1425" b="0" i="0">
                <a:solidFill>
                  <a:srgbClr val="24383A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4383A"/>
                </a:solidFill>
                <a:latin typeface="Arial"/>
                <a:ea typeface="Arial"/>
                <a:cs typeface="Arial"/>
              </a:rPr>
              <a:t>• raw frames and landmarks stay in the browser</a:t>
            </a:r>
          </a:p>
          <a:p xmlns:a="http://schemas.openxmlformats.org/drawingml/2006/main">
            <a:pPr>
              <a:defRPr sz="1425" b="0" i="0">
                <a:solidFill>
                  <a:srgbClr val="24383A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4383A"/>
                </a:solidFill>
                <a:latin typeface="Arial"/>
                <a:ea typeface="Arial"/>
                <a:cs typeface="Arial"/>
              </a:rPr>
              <a:t>• missing camera data remains unavailable</a:t>
            </a:r>
          </a:p>
          <a:p xmlns:a="http://schemas.openxmlformats.org/drawingml/2006/main">
            <a:pPr>
              <a:defRPr sz="1425" b="0" i="0">
                <a:solidFill>
                  <a:srgbClr val="24383A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4383A"/>
                </a:solidFill>
                <a:latin typeface="Arial"/>
                <a:ea typeface="Arial"/>
                <a:cs typeface="Arial"/>
              </a:rPr>
              <a:t>• synthetic and legacy rows stay labelled</a:t>
            </a:r>
          </a:p>
          <a:p xmlns:a="http://schemas.openxmlformats.org/drawingml/2006/main">
            <a:pPr>
              <a:defRPr sz="1425" b="0" i="0">
                <a:solidFill>
                  <a:srgbClr val="24383A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4383A"/>
                </a:solidFill>
                <a:latin typeface="Arial"/>
                <a:ea typeface="Arial"/>
                <a:cs typeface="Arial"/>
              </a:rPr>
              <a:t>• no claim of causal learning improvement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F05CDE-C33A-4B26-B9A9-1F35A8929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8706E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8706E"/>
                </a:solidFill>
                <a:latin typeface="Arial"/>
                <a:ea typeface="Arial"/>
                <a:cs typeface="Arial"/>
              </a:rPr>
              <a:t>ADAPTIVE LEARNING LOOP · TECHNICAL REBUILD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DDEFCD-6C96-4FCB-8708-A720661F0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8706E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8706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722452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C05D8B-75AF-4FB3-8207-DFA7D247B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1E6D6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E6D63"/>
                </a:solidFill>
                <a:latin typeface="Arial"/>
                <a:ea typeface="Arial"/>
                <a:cs typeface="Arial"/>
              </a:rPr>
              <a:t>LEARNING WORKSPACE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44A23B-0161-467B-90A3-959244247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17282A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7282A"/>
                </a:solidFill>
                <a:latin typeface="Arial"/>
                <a:ea typeface="Arial"/>
                <a:cs typeface="Arial"/>
              </a:rPr>
              <a:t>The product is a lesson, not a landing page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B3FEEC-C4C8-4613-867E-8319F2466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716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8706E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8706E"/>
                </a:solidFill>
                <a:latin typeface="Arial"/>
                <a:ea typeface="Arial"/>
                <a:cs typeface="Arial"/>
              </a:rPr>
              <a:t>The same instructional content supports static, rule-based, and personalized comparison modes.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4be420445f4068"/>
          <a:stretch xmlns:a="http://schemas.openxmlformats.org/drawingml/2006/main"/>
        </p:blipFill>
        <p:spPr>
          <a:xfrm xmlns:a="http://schemas.openxmlformats.org/drawingml/2006/main">
            <a:off x="1320657" y="2000250"/>
            <a:ext cx="1892586" cy="409575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008DA3-96CE-45AA-B06D-F856C1248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0025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DD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B5D91C-9265-4303-9680-26F9A538E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955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7282A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7282A"/>
                </a:solidFill>
                <a:latin typeface="Arial"/>
                <a:ea typeface="Arial"/>
                <a:cs typeface="Arial"/>
              </a:rPr>
              <a:t>Six usable surfaces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454870-EFC4-4E40-A384-64862CFDD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628900"/>
            <a:ext cx="3333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24383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4383A"/>
                </a:solidFill>
                <a:latin typeface="Arial"/>
                <a:ea typeface="Arial"/>
                <a:cs typeface="Arial"/>
              </a:rPr>
              <a:t>Lesson library</a:t>
            </a:r>
          </a:p>
          <a:p xmlns:a="http://schemas.openxmlformats.org/drawingml/2006/main">
            <a:pPr>
              <a:defRPr sz="1575" b="0" i="0">
                <a:solidFill>
                  <a:srgbClr val="24383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4383A"/>
                </a:solidFill>
                <a:latin typeface="Arial"/>
                <a:ea typeface="Arial"/>
                <a:cs typeface="Arial"/>
              </a:rPr>
              <a:t>Session setup</a:t>
            </a:r>
          </a:p>
          <a:p xmlns:a="http://schemas.openxmlformats.org/drawingml/2006/main">
            <a:pPr>
              <a:defRPr sz="1575" b="0" i="0">
                <a:solidFill>
                  <a:srgbClr val="24383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4383A"/>
                </a:solidFill>
                <a:latin typeface="Arial"/>
                <a:ea typeface="Arial"/>
                <a:cs typeface="Arial"/>
              </a:rPr>
              <a:t>Learning workspace</a:t>
            </a:r>
          </a:p>
          <a:p xmlns:a="http://schemas.openxmlformats.org/drawingml/2006/main">
            <a:pPr>
              <a:defRPr sz="1575" b="0" i="0">
                <a:solidFill>
                  <a:srgbClr val="24383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4383A"/>
                </a:solidFill>
                <a:latin typeface="Arial"/>
                <a:ea typeface="Arial"/>
                <a:cs typeface="Arial"/>
              </a:rPr>
              <a:t>Support panel</a:t>
            </a:r>
          </a:p>
          <a:p xmlns:a="http://schemas.openxmlformats.org/drawingml/2006/main">
            <a:pPr>
              <a:defRPr sz="1575" b="0" i="0">
                <a:solidFill>
                  <a:srgbClr val="24383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4383A"/>
                </a:solidFill>
                <a:latin typeface="Arial"/>
                <a:ea typeface="Arial"/>
                <a:cs typeface="Arial"/>
              </a:rPr>
              <a:t>Results and history</a:t>
            </a:r>
          </a:p>
          <a:p xmlns:a="http://schemas.openxmlformats.org/drawingml/2006/main">
            <a:pPr>
              <a:defRPr sz="1575" b="0" i="0">
                <a:solidFill>
                  <a:srgbClr val="24383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4383A"/>
                </a:solidFill>
                <a:latin typeface="Arial"/>
                <a:ea typeface="Arial"/>
                <a:cs typeface="Arial"/>
              </a:rPr>
              <a:t>Research workspace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EE236F-2D19-40F3-94E7-E07147594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143500"/>
            <a:ext cx="571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8706E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8706E"/>
                </a:solidFill>
                <a:latin typeface="Arial"/>
                <a:ea typeface="Arial"/>
                <a:cs typeface="Arial"/>
              </a:rPr>
              <a:t>Every surface has explicit loading, saved, unavailable, error, and completed states. A learner can continue without a camera.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D8C840-8528-4B4F-B316-4DAFB69F9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8706E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8706E"/>
                </a:solidFill>
                <a:latin typeface="Arial"/>
                <a:ea typeface="Arial"/>
                <a:cs typeface="Arial"/>
              </a:rPr>
              <a:t>ADAPTIVE LEARNING LOOP · TECHNICAL REBUILD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5D726F-79F7-41CA-8660-688BA4538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8706E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8706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885982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F2AFCA-2D0C-4F08-8851-FA7589512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1E6D6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E6D63"/>
                </a:solidFill>
                <a:latin typeface="Arial"/>
                <a:ea typeface="Arial"/>
                <a:cs typeface="Arial"/>
              </a:rPr>
              <a:t>DECISION POLICY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21C39D-2544-400E-82D0-33915C565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17282A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7282A"/>
                </a:solidFill>
                <a:latin typeface="Arial"/>
                <a:ea typeface="Arial"/>
                <a:cs typeface="Arial"/>
              </a:rPr>
              <a:t>Each support offer has a reason and a measurable follow-up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F200D4-FFF3-4746-A13E-C8A433A88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716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8706E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8706E"/>
                </a:solidFill>
                <a:latin typeface="Arial"/>
                <a:ea typeface="Arial"/>
                <a:cs typeface="Arial"/>
              </a:rPr>
              <a:t>The system separates learning difficulty, camera context, sensor availability, cooldown, and active support.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5337B6-8800-42CA-BC59-A1DA697F6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1714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4DDD7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47A6AE-E52A-4071-BBB9-1A3D60949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1E6D6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E6D63"/>
                </a:solidFill>
                <a:latin typeface="Arial"/>
                <a:ea typeface="Arial"/>
                <a:cs typeface="Arial"/>
              </a:rPr>
              <a:t>OBSERVE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6DCC4B-F938-41BC-AC72-96D57B0A1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19450"/>
            <a:ext cx="1381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24383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24383A"/>
                </a:solidFill>
                <a:latin typeface="Arial"/>
                <a:ea typeface="Arial"/>
                <a:cs typeface="Arial"/>
              </a:rPr>
              <a:t>answer, timing, revisit, help request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5DAE28-DFBA-43A9-9FF6-F8C379FFC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371850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6714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2E264C-B3EA-4AE6-9623-52C912605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09850"/>
            <a:ext cx="1714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4DDD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10A121-CBF5-4567-84E7-F0E2F6198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8384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1E6D6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E6D63"/>
                </a:solidFill>
                <a:latin typeface="Arial"/>
                <a:ea typeface="Arial"/>
                <a:cs typeface="Arial"/>
              </a:rPr>
              <a:t>ESTIMATE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F355FD-10A0-46DD-883B-1D137F111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219450"/>
            <a:ext cx="1381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24383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24383A"/>
                </a:solidFill>
                <a:latin typeface="Arial"/>
                <a:ea typeface="Arial"/>
                <a:cs typeface="Arial"/>
              </a:rPr>
              <a:t>streaks and configured friction thresholds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CD91D3-5D89-469C-AE2B-125A6BE35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71850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67142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AF5699-B8B7-42A2-A1D3-3630FFBCB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609850"/>
            <a:ext cx="1714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4DDD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DB02DD-5CD6-4104-846A-3B3EB18AB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8384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1E6D6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E6D63"/>
                </a:solidFill>
                <a:latin typeface="Arial"/>
                <a:ea typeface="Arial"/>
                <a:cs typeface="Arial"/>
              </a:rPr>
              <a:t>OFFER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F02E7B-354B-4D98-A51C-03A748676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219450"/>
            <a:ext cx="1381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24383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24383A"/>
                </a:solidFill>
                <a:latin typeface="Arial"/>
                <a:ea typeface="Arial"/>
                <a:cs typeface="Arial"/>
              </a:rPr>
              <a:t>simplified, worked example, or practice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000239-7178-4636-8BC2-8E6799C1D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71850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67142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912361-CFDC-4393-951A-777DF96EC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09850"/>
            <a:ext cx="1714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4DDD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2FDA30-64BD-431E-8234-1BFDCDFF8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8384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1E6D6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E6D63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1E3FC8-6EAF-497D-BDE3-BEBA97159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219450"/>
            <a:ext cx="1381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24383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24383A"/>
                </a:solidFill>
                <a:latin typeface="Arial"/>
                <a:ea typeface="Arial"/>
                <a:cs typeface="Arial"/>
              </a:rPr>
              <a:t>two concept-specific follow-ups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5C1224-35F7-4D68-8A83-6CFECFDCF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371850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67142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9CEF0C-4E24-4F24-9A22-FF3EE4197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09850"/>
            <a:ext cx="1714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5EFE9"/>
          </a:solidFill>
          <a:ln xmlns:a="http://schemas.openxmlformats.org/drawingml/2006/main" w="9525">
            <a:solidFill>
              <a:srgbClr val="1E6D6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6739E8-1D07-44E3-A234-175047102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8384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17282A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7282A"/>
                </a:solidFill>
                <a:latin typeface="Arial"/>
                <a:ea typeface="Arial"/>
                <a:cs typeface="Arial"/>
              </a:rPr>
              <a:t>PERSONALIZE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2609E2-3B67-4718-AF6A-88B7FDB68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219450"/>
            <a:ext cx="1381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916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17282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82A"/>
                </a:solidFill>
                <a:latin typeface="Arial"/>
                <a:ea typeface="Arial"/>
                <a:cs typeface="Arial"/>
              </a:rPr>
              <a:t>completed outcomes by learner and concept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965B34-3675-409E-9A1D-0329D60F3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577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8706E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8706E"/>
                </a:solidFill>
                <a:latin typeface="Arial"/>
                <a:ea typeface="Arial"/>
                <a:cs typeface="Arial"/>
              </a:rPr>
              <a:t>Automatic prompts observe a 90-second cooldown. Explicit help remains available and reuses an active support item.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7DE93D-3668-4CA5-AF61-9DE77431F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292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E6D63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E6D63"/>
                </a:solidFill>
                <a:latin typeface="Arial"/>
                <a:ea typeface="Arial"/>
                <a:cs typeface="Arial"/>
              </a:rPr>
              <a:t>Selection rule: unseen concept → fixed exploration order → highest smoothed completed score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EF06A7-1D21-40E6-B7F3-1E125008C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8706E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8706E"/>
                </a:solidFill>
                <a:latin typeface="Arial"/>
                <a:ea typeface="Arial"/>
                <a:cs typeface="Arial"/>
              </a:rPr>
              <a:t>ADAPTIVE LEARNING LOOP · TECHNICAL REBUILD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A6C028-567F-405F-AFDA-F988AA60B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8706E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8706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26801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B9A1AB-A674-464B-AB10-B8B051947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1E6D6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E6D63"/>
                </a:solidFill>
                <a:latin typeface="Arial"/>
                <a:ea typeface="Arial"/>
                <a:cs typeface="Arial"/>
              </a:rPr>
              <a:t>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B0F1A0-C9C8-497F-A270-E32FA8601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17282A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7282A"/>
                </a:solidFill>
                <a:latin typeface="Arial"/>
                <a:ea typeface="Arial"/>
                <a:cs typeface="Arial"/>
              </a:rPr>
              <a:t>Local sensing, server grading, persistent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88906E-5C04-4121-982C-D0FCE11A7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716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8706E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8706E"/>
                </a:solidFill>
                <a:latin typeface="Arial"/>
                <a:ea typeface="Arial"/>
                <a:cs typeface="Arial"/>
              </a:rPr>
              <a:t>The application keeps raw camera material out of API traffic, storage, and exports.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DA507F-7D6A-4CA7-9811-7DBA0C668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31432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4DDD7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4974E6-7FA5-4075-B130-D54677008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7282A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7282A"/>
                </a:solidFill>
                <a:latin typeface="Arial"/>
                <a:ea typeface="Arial"/>
                <a:cs typeface="Arial"/>
              </a:rPr>
              <a:t>Browser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078332-AAAC-4676-818B-395CB1CF8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95600"/>
            <a:ext cx="2476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24383A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4383A"/>
                </a:solidFill>
                <a:latin typeface="Arial"/>
                <a:ea typeface="Arial"/>
                <a:cs typeface="Arial"/>
              </a:rPr>
              <a:t>React + TypeScript + Vite</a:t>
            </a:r>
          </a:p>
          <a:p xmlns:a="http://schemas.openxmlformats.org/drawingml/2006/main">
            <a:pPr>
              <a:defRPr sz="1350" b="0" i="0">
                <a:solidFill>
                  <a:srgbClr val="24383A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4383A"/>
                </a:solidFill>
                <a:latin typeface="Arial"/>
                <a:ea typeface="Arial"/>
                <a:cs typeface="Arial"/>
              </a:rPr>
              <a:t>MediaPipe Face Landmarker worker</a:t>
            </a:r>
          </a:p>
          <a:p xmlns:a="http://schemas.openxmlformats.org/drawingml/2006/main">
            <a:pPr>
              <a:defRPr sz="1350" b="0" i="0">
                <a:solidFill>
                  <a:srgbClr val="24383A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4383A"/>
                </a:solidFill>
                <a:latin typeface="Arial"/>
                <a:ea typeface="Arial"/>
                <a:cs typeface="Arial"/>
              </a:rPr>
              <a:t>Durable event outbox</a:t>
            </a:r>
          </a:p>
          <a:p xmlns:a="http://schemas.openxmlformats.org/drawingml/2006/main">
            <a:pPr>
              <a:defRPr sz="1350" b="0" i="0">
                <a:solidFill>
                  <a:srgbClr val="24383A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4383A"/>
                </a:solidFill>
                <a:latin typeface="Arial"/>
                <a:ea typeface="Arial"/>
                <a:cs typeface="Arial"/>
              </a:rPr>
              <a:t>Camera preview and calibration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6A80BB-938A-4400-9F60-27FD0B5D4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42900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6714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EF0599-437E-4291-B499-501CFE274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190750"/>
            <a:ext cx="31432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5EFE9"/>
          </a:solidFill>
          <a:ln xmlns:a="http://schemas.openxmlformats.org/drawingml/2006/main" w="9525">
            <a:solidFill>
              <a:srgbClr val="D4DDD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CCE4DC-DB25-4200-B912-74AE4932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4193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7282A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7282A"/>
                </a:solidFill>
                <a:latin typeface="Arial"/>
                <a:ea typeface="Arial"/>
                <a:cs typeface="Arial"/>
              </a:rPr>
              <a:t>API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9F21ED-1FA7-40E2-AC3B-F5827F81E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895600"/>
            <a:ext cx="2476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24383A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4383A"/>
                </a:solidFill>
                <a:latin typeface="Arial"/>
                <a:ea typeface="Arial"/>
                <a:cs typeface="Arial"/>
              </a:rPr>
              <a:t>FastAPI + typed validation</a:t>
            </a:r>
          </a:p>
          <a:p xmlns:a="http://schemas.openxmlformats.org/drawingml/2006/main">
            <a:pPr>
              <a:defRPr sz="1350" b="0" i="0">
                <a:solidFill>
                  <a:srgbClr val="24383A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4383A"/>
                </a:solidFill>
                <a:latin typeface="Arial"/>
                <a:ea typeface="Arial"/>
                <a:cs typeface="Arial"/>
              </a:rPr>
              <a:t>Server-side answer keys</a:t>
            </a:r>
          </a:p>
          <a:p xmlns:a="http://schemas.openxmlformats.org/drawingml/2006/main">
            <a:pPr>
              <a:defRPr sz="1350" b="0" i="0">
                <a:solidFill>
                  <a:srgbClr val="24383A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4383A"/>
                </a:solidFill>
                <a:latin typeface="Arial"/>
                <a:ea typeface="Arial"/>
                <a:cs typeface="Arial"/>
              </a:rPr>
              <a:t>Idempotent events</a:t>
            </a:r>
          </a:p>
          <a:p xmlns:a="http://schemas.openxmlformats.org/drawingml/2006/main">
            <a:pPr>
              <a:defRPr sz="1350" b="0" i="0">
                <a:solidFill>
                  <a:srgbClr val="24383A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4383A"/>
                </a:solidFill>
                <a:latin typeface="Arial"/>
                <a:ea typeface="Arial"/>
                <a:cs typeface="Arial"/>
              </a:rPr>
              <a:t>Intervention lifecycle</a:t>
            </a:r>
          </a:p>
          <a:p xmlns:a="http://schemas.openxmlformats.org/drawingml/2006/main">
            <a:pPr>
              <a:defRPr sz="1350" b="0" i="0">
                <a:solidFill>
                  <a:srgbClr val="24383A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4383A"/>
                </a:solidFill>
                <a:latin typeface="Arial"/>
                <a:ea typeface="Arial"/>
                <a:cs typeface="Arial"/>
              </a:rPr>
              <a:t>CSV export boundaries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7B24C6-FFF4-46AA-A8B8-183CF45BE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2900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67142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0E75BA-2D9F-4EB8-B2FF-B48676C13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190750"/>
            <a:ext cx="1905000" cy="2476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4DDD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461DCE-65BF-413A-8ABF-088A4AD88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4193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7282A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7282A"/>
                </a:solidFill>
                <a:latin typeface="Arial"/>
                <a:ea typeface="Arial"/>
                <a:cs typeface="Arial"/>
              </a:rPr>
              <a:t>Storage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C7AFA4-052C-487B-A1A9-D446CDE91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95600"/>
            <a:ext cx="1381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59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24383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24383A"/>
                </a:solidFill>
                <a:latin typeface="Arial"/>
                <a:ea typeface="Arial"/>
                <a:cs typeface="Arial"/>
              </a:rPr>
              <a:t>PostgreSQL</a:t>
            </a:r>
          </a:p>
          <a:p xmlns:a="http://schemas.openxmlformats.org/drawingml/2006/main">
            <a:pPr>
              <a:defRPr sz="1200" b="0" i="0">
                <a:solidFill>
                  <a:srgbClr val="24383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24383A"/>
                </a:solidFill>
                <a:latin typeface="Arial"/>
                <a:ea typeface="Arial"/>
                <a:cs typeface="Arial"/>
              </a:rPr>
              <a:t>(or documented SQLite convenience)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 i="0">
                <a:solidFill>
                  <a:srgbClr val="24383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24383A"/>
                </a:solidFill>
                <a:latin typeface="Arial"/>
                <a:ea typeface="Arial"/>
                <a:cs typeface="Arial"/>
              </a:rPr>
              <a:t>Sessions</a:t>
            </a:r>
          </a:p>
          <a:p xmlns:a="http://schemas.openxmlformats.org/drawingml/2006/main">
            <a:pPr>
              <a:defRPr sz="1200" b="0" i="0">
                <a:solidFill>
                  <a:srgbClr val="24383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24383A"/>
                </a:solidFill>
                <a:latin typeface="Arial"/>
                <a:ea typeface="Arial"/>
                <a:cs typeface="Arial"/>
              </a:rPr>
              <a:t>Answers</a:t>
            </a:r>
          </a:p>
          <a:p xmlns:a="http://schemas.openxmlformats.org/drawingml/2006/main">
            <a:pPr>
              <a:defRPr sz="1200" b="0" i="0">
                <a:solidFill>
                  <a:srgbClr val="24383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24383A"/>
                </a:solidFill>
                <a:latin typeface="Arial"/>
                <a:ea typeface="Arial"/>
                <a:cs typeface="Arial"/>
              </a:rPr>
              <a:t>Signals</a:t>
            </a:r>
          </a:p>
          <a:p xmlns:a="http://schemas.openxmlformats.org/drawingml/2006/main">
            <a:pPr>
              <a:defRPr sz="1200" b="0" i="0">
                <a:solidFill>
                  <a:srgbClr val="24383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24383A"/>
                </a:solidFill>
                <a:latin typeface="Arial"/>
                <a:ea typeface="Arial"/>
                <a:cs typeface="Arial"/>
              </a:rPr>
              <a:t>Supports</a:t>
            </a:r>
          </a:p>
          <a:p xmlns:a="http://schemas.openxmlformats.org/drawingml/2006/main">
            <a:pPr>
              <a:defRPr sz="1200" b="0" i="0">
                <a:solidFill>
                  <a:srgbClr val="24383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24383A"/>
                </a:solidFill>
                <a:latin typeface="Arial"/>
                <a:ea typeface="Arial"/>
                <a:cs typeface="Arial"/>
              </a:rPr>
              <a:t>Aggregates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11481C-FD41-47CD-9782-55EA8AACA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340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75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8706E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8706E"/>
                </a:solidFill>
                <a:latin typeface="Arial"/>
                <a:ea typeface="Arial"/>
                <a:cs typeface="Arial"/>
              </a:rPr>
              <a:t>Only approved summaries leave the browser. The research export carries provenance and completeness flags, never raw biometric material.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ACB0FA-680E-428B-97A4-32AD930FD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8706E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8706E"/>
                </a:solidFill>
                <a:latin typeface="Arial"/>
                <a:ea typeface="Arial"/>
                <a:cs typeface="Arial"/>
              </a:rPr>
              <a:t>ADAPTIVE LEARNING LOOP · TECHNICAL REBUILD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F55409-BB38-4163-BB65-002D1D71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8706E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8706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661754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1CCF43-48F3-46F4-A821-B0FB0DE5E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1E6D6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E6D63"/>
                </a:solidFill>
                <a:latin typeface="Arial"/>
                <a:ea typeface="Arial"/>
                <a:cs typeface="Arial"/>
              </a:rPr>
              <a:t>VERIFICATION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5806C9-BC2F-4B61-A5EA-60285CDCA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17282A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7282A"/>
                </a:solidFill>
                <a:latin typeface="Arial"/>
                <a:ea typeface="Arial"/>
                <a:cs typeface="Arial"/>
              </a:rPr>
              <a:t>The software loop is exercised end to end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825DBB-CBB8-4A26-8A67-4165A615F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716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8706E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8706E"/>
                </a:solidFill>
                <a:latin typeface="Arial"/>
                <a:ea typeface="Arial"/>
                <a:cs typeface="Arial"/>
              </a:rPr>
              <a:t>These are technical validation results from the local application. They are not human-study findings.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7B03D6-2B3E-4DC5-8E7E-CD103AB82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23336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4DDD7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37E597-50CA-48FE-9B6D-873BAA58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1952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944"/>
          </a:bodyPr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1E6D63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E6D63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679687-E3AA-4D96-94E2-B9CECCEB0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86050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58706E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8706E"/>
                </a:solidFill>
                <a:latin typeface="Arial"/>
                <a:ea typeface="Arial"/>
                <a:cs typeface="Arial"/>
              </a:rPr>
              <a:t>backend tests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1F3292-90E2-408D-AC52-E974EFD67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000250"/>
            <a:ext cx="23336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4DDD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5BA4D4-C47C-4F97-B960-DC146B787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171700"/>
            <a:ext cx="1952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944"/>
          </a:bodyPr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1E6D63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E6D63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49377F-4645-40CC-90E8-7C4A7467E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686050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58706E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8706E"/>
                </a:solidFill>
                <a:latin typeface="Arial"/>
                <a:ea typeface="Arial"/>
                <a:cs typeface="Arial"/>
              </a:rPr>
              <a:t>lesson/mode flows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E4F7C4-2C21-4E48-B890-54DE95880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23336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5EFE9"/>
          </a:solidFill>
          <a:ln xmlns:a="http://schemas.openxmlformats.org/drawingml/2006/main" w="9525">
            <a:solidFill>
              <a:srgbClr val="D4DDD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BF76A5-C934-4D22-9D84-40193115B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71700"/>
            <a:ext cx="1952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944"/>
          </a:bodyPr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1E6D63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E6D63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D924BF-2CDC-49B0-B496-CE19112FB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86050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58706E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8706E"/>
                </a:solidFill>
                <a:latin typeface="Arial"/>
                <a:ea typeface="Arial"/>
                <a:cs typeface="Arial"/>
              </a:rPr>
              <a:t>axe violations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3B1553-1F98-4920-8275-B4BEEB629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000250"/>
            <a:ext cx="23336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4DDD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3F199A-A967-4B6E-A52F-7D72E9D38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171700"/>
            <a:ext cx="1952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944"/>
          </a:bodyPr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1E6D63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E6D63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9EAD2E-C192-41FB-AE42-EE9917C09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686050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58706E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8706E"/>
                </a:solidFill>
                <a:latin typeface="Arial"/>
                <a:ea typeface="Arial"/>
                <a:cs typeface="Arial"/>
              </a:rPr>
              <a:t>ready health status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ee86be4e814647"/>
          <a:srcRect xmlns:a="http://schemas.openxmlformats.org/drawingml/2006/main" l="0" t="11128" r="0" b="111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3619500"/>
            <a:ext cx="3333750" cy="2047875"/>
          </a:xfrm>
          <a:prstGeom xmlns:a="http://schemas.openxmlformats.org/drawingml/2006/main" prst="roundRect">
            <a:avLst>
              <a:gd name="adj" fmla="val 5581"/>
            </a:avLst>
          </a:prstGeom>
        </p:spPr>
      </p:pic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01effd637e48e2"/>
          <a:srcRect xmlns:a="http://schemas.openxmlformats.org/drawingml/2006/main" l="0" t="39825" r="0" b="398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29125" y="3619500"/>
            <a:ext cx="7096125" cy="2047875"/>
          </a:xfrm>
          <a:prstGeom xmlns:a="http://schemas.openxmlformats.org/drawingml/2006/main" prst="roundRect">
            <a:avLst>
              <a:gd name="adj" fmla="val 5581"/>
            </a:avLst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DF069C-8FBE-45BB-A5A9-79862B364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8706E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8706E"/>
                </a:solidFill>
                <a:latin typeface="Arial"/>
                <a:ea typeface="Arial"/>
                <a:cs typeface="Arial"/>
              </a:rPr>
              <a:t>ADAPTIVE LEARNING LOOP · TECHNICAL REBUILD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73F79A-602E-4144-8821-BB1670386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8706E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8706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714182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E04FCB-2734-46C9-9AC6-451FA9CAE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1E6D6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E6D63"/>
                </a:solidFill>
                <a:latin typeface="Arial"/>
                <a:ea typeface="Arial"/>
                <a:cs typeface="Arial"/>
              </a:rPr>
              <a:t>DEMONSTRATION TRACE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9D4AF4-EF61-4E24-8E78-E85DF9FE7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17282A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7282A"/>
                </a:solidFill>
                <a:latin typeface="Arial"/>
                <a:ea typeface="Arial"/>
                <a:cs typeface="Arial"/>
              </a:rPr>
              <a:t>A later choice can use a learner’s completed history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A5E918-861B-474E-A4A6-678B0EB58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716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8706E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8706E"/>
                </a:solidFill>
                <a:latin typeface="Arial"/>
                <a:ea typeface="Arial"/>
                <a:cs typeface="Arial"/>
              </a:rPr>
              <a:t>The example below is labelled practice data so it cannot be confused with a measured study.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E75C23-A4B3-4ECC-9FAE-BE3880D34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C67142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C6714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C4270E-9DE9-45B8-9820-8A6B09DCE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238375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4DDD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7589DA-B682-465F-BDC4-C95F08AF4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0764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7282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7282A"/>
                </a:solidFill>
                <a:latin typeface="Arial"/>
                <a:ea typeface="Arial"/>
                <a:cs typeface="Arial"/>
              </a:rPr>
              <a:t>Two wrong checkpoints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665A74-507E-480B-A521-F2C303E56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955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8706E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8706E"/>
                </a:solidFill>
                <a:latin typeface="Arial"/>
                <a:ea typeface="Arial"/>
                <a:cs typeface="Arial"/>
              </a:rPr>
              <a:t>The current concept enters the support policy.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F98519-65FE-4A39-B4DA-5E401AF50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337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C67142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C6714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F52046-C4A7-4618-9001-780BB14E8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076575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4DDD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20EBEB-E153-4115-A67F-8945D2E1D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9146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7282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7282A"/>
                </a:solidFill>
                <a:latin typeface="Arial"/>
                <a:ea typeface="Arial"/>
                <a:cs typeface="Arial"/>
              </a:rPr>
              <a:t>Simplified support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D834BB-2FCF-4DC1-8B51-04430D129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337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8706E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8706E"/>
                </a:solidFill>
                <a:latin typeface="Arial"/>
                <a:ea typeface="Arial"/>
                <a:cs typeface="Arial"/>
              </a:rPr>
              <a:t>The learner accepts the first unused support type.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856E7A-05E1-449C-A12B-3170A72AA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719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C67142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C6714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659F8E-86CA-464F-9F99-CEACDC1AC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914775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4DDD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872BBB-851E-44C2-B75E-57F732DE9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7528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7282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7282A"/>
                </a:solidFill>
                <a:latin typeface="Arial"/>
                <a:ea typeface="Arial"/>
                <a:cs typeface="Arial"/>
              </a:rPr>
              <a:t>Two follow-ups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21609C-A17F-4EE6-864A-ED47DD9DD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7719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8706E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8706E"/>
                </a:solidFill>
                <a:latin typeface="Arial"/>
                <a:ea typeface="Arial"/>
                <a:cs typeface="Arial"/>
              </a:rPr>
              <a:t>The server grades both checks and stores the outcome.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5023BC-5810-497D-AB17-7D5E56450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01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C67142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C6714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3F1F2F-2438-4959-A10B-2333EAC22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752975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4DDD7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733D7B-FFEE-4F98-B1F4-D1A2083EE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5910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7282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7282A"/>
                </a:solidFill>
                <a:latin typeface="Arial"/>
                <a:ea typeface="Arial"/>
                <a:cs typeface="Arial"/>
              </a:rPr>
              <a:t>Later session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E170C8-928D-4AE3-BBF3-A61CF002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6101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8706E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8706E"/>
                </a:solidFill>
                <a:latin typeface="Arial"/>
                <a:ea typeface="Arial"/>
                <a:cs typeface="Arial"/>
              </a:rPr>
              <a:t>Personalized mode can select the next eligible type using history.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441B3B-F491-4DCD-A7A2-ADEAA8D20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619750"/>
            <a:ext cx="838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5EFE9"/>
          </a:solidFill>
          <a:ln xmlns:a="http://schemas.openxmlformats.org/drawingml/2006/main" w="9525">
            <a:solidFill>
              <a:srgbClr val="D4DDD7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D46F45-F5CA-48E0-867C-6916796A1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71500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E6D6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E6D63"/>
                </a:solidFill>
                <a:latin typeface="Arial"/>
                <a:ea typeface="Arial"/>
                <a:cs typeface="Arial"/>
              </a:rPr>
              <a:t>Practice/demo provenance is visible in the results and research workspace.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19F09A-8916-4846-A60B-05B68117F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8706E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8706E"/>
                </a:solidFill>
                <a:latin typeface="Arial"/>
                <a:ea typeface="Arial"/>
                <a:cs typeface="Arial"/>
              </a:rPr>
              <a:t>ADAPTIVE LEARNING LOOP · TECHNICAL REBUILD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783004-294A-44A0-A61C-97D009F77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8706E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8706E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487804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2236B6-261C-43C2-B2BC-53C4CD3B2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1E6D6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E6D63"/>
                </a:solidFill>
                <a:latin typeface="Arial"/>
                <a:ea typeface="Arial"/>
                <a:cs typeface="Arial"/>
              </a:rPr>
              <a:t>STUDY HANDOFF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42490C-A5CD-4408-8F4D-0D24BE393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17282A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7282A"/>
                </a:solidFill>
                <a:latin typeface="Arial"/>
                <a:ea typeface="Arial"/>
                <a:cs typeface="Arial"/>
              </a:rPr>
              <a:t>The software is ready for evidence collection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FD2CEF-F3DC-4371-BDCE-764EE7AED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716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8706E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8706E"/>
                </a:solidFill>
                <a:latin typeface="Arial"/>
                <a:ea typeface="Arial"/>
                <a:cs typeface="Arial"/>
              </a:rPr>
              <a:t>The remaining claims require people, hardware, and a reproducible PostgreSQL run.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484097-FC38-4432-AD44-28BCD713F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51435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4DDD7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E57230-5302-4426-8AA5-8EF699699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7282A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7282A"/>
                </a:solidFill>
                <a:latin typeface="Arial"/>
                <a:ea typeface="Arial"/>
                <a:cs typeface="Arial"/>
              </a:rPr>
              <a:t>Next human actions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D8CE75-C527-4A0B-990E-68FC94626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95600"/>
            <a:ext cx="4381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24383A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4383A"/>
                </a:solidFill>
                <a:latin typeface="Arial"/>
                <a:ea typeface="Arial"/>
                <a:cs typeface="Arial"/>
              </a:rPr>
              <a:t>1  Run the practice session and build history</a:t>
            </a:r>
          </a:p>
          <a:p xmlns:a="http://schemas.openxmlformats.org/drawingml/2006/main">
            <a:pPr>
              <a:defRPr sz="1425" b="0" i="0">
                <a:solidFill>
                  <a:srgbClr val="24383A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4383A"/>
                </a:solidFill>
                <a:latin typeface="Arial"/>
                <a:ea typeface="Arial"/>
                <a:cs typeface="Arial"/>
              </a:rPr>
              <a:t>2  Run the rotated 3–6-person pilot</a:t>
            </a:r>
          </a:p>
          <a:p xmlns:a="http://schemas.openxmlformats.org/drawingml/2006/main">
            <a:pPr>
              <a:defRPr sz="1425" b="0" i="0">
                <a:solidFill>
                  <a:srgbClr val="24383A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4383A"/>
                </a:solidFill>
                <a:latin typeface="Arial"/>
                <a:ea typeface="Arial"/>
                <a:cs typeface="Arial"/>
              </a:rPr>
              <a:t>3  Collect feedback and optional retention</a:t>
            </a:r>
          </a:p>
          <a:p xmlns:a="http://schemas.openxmlformats.org/drawingml/2006/main">
            <a:pPr>
              <a:defRPr sz="1425" b="0" i="0">
                <a:solidFill>
                  <a:srgbClr val="24383A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4383A"/>
                </a:solidFill>
                <a:latin typeface="Arial"/>
                <a:ea typeface="Arial"/>
                <a:cs typeface="Arial"/>
              </a:rPr>
              <a:t>4  Export observed study rows</a:t>
            </a:r>
          </a:p>
          <a:p xmlns:a="http://schemas.openxmlformats.org/drawingml/2006/main">
            <a:pPr>
              <a:defRPr sz="1425" b="0" i="0">
                <a:solidFill>
                  <a:srgbClr val="24383A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4383A"/>
                </a:solidFill>
                <a:latin typeface="Arial"/>
                <a:ea typeface="Arial"/>
                <a:cs typeface="Arial"/>
              </a:rPr>
              <a:t>5  Generate charts and finish the report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334D6B-AEDB-4673-8715-D204905F4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95500"/>
            <a:ext cx="51435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E5EFE9"/>
          </a:solidFill>
          <a:ln xmlns:a="http://schemas.openxmlformats.org/drawingml/2006/main" w="9525">
            <a:solidFill>
              <a:srgbClr val="D4DDD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520F63-D064-4EE7-ACF8-C8898C5A2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812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7282A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7282A"/>
                </a:solidFill>
                <a:latin typeface="Arial"/>
                <a:ea typeface="Arial"/>
                <a:cs typeface="Arial"/>
              </a:rPr>
              <a:t>External verification still open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7D125A-1A10-4379-B0EF-9030ADCE2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895600"/>
            <a:ext cx="4381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24383A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4383A"/>
                </a:solidFill>
                <a:latin typeface="Arial"/>
                <a:ea typeface="Arial"/>
                <a:cs typeface="Arial"/>
              </a:rPr>
              <a:t>• PostgreSQL Compose restart test</a:t>
            </a:r>
          </a:p>
          <a:p xmlns:a="http://schemas.openxmlformats.org/drawingml/2006/main">
            <a:pPr>
              <a:defRPr sz="1425" b="0" i="0">
                <a:solidFill>
                  <a:srgbClr val="24383A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4383A"/>
                </a:solidFill>
                <a:latin typeface="Arial"/>
                <a:ea typeface="Arial"/>
                <a:cs typeface="Arial"/>
              </a:rPr>
              <a:t>• consenting webcam calibration and plausibility</a:t>
            </a:r>
          </a:p>
          <a:p xmlns:a="http://schemas.openxmlformats.org/drawingml/2006/main">
            <a:pPr>
              <a:defRPr sz="1425" b="0" i="0">
                <a:solidFill>
                  <a:srgbClr val="24383A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4383A"/>
                </a:solidFill>
                <a:latin typeface="Arial"/>
                <a:ea typeface="Arial"/>
                <a:cs typeface="Arial"/>
              </a:rPr>
              <a:t>• screen-reader review</a:t>
            </a:r>
          </a:p>
          <a:p xmlns:a="http://schemas.openxmlformats.org/drawingml/2006/main">
            <a:pPr>
              <a:defRPr sz="1425" b="0" i="0">
                <a:solidFill>
                  <a:srgbClr val="24383A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4383A"/>
                </a:solidFill>
                <a:latin typeface="Arial"/>
                <a:ea typeface="Arial"/>
                <a:cs typeface="Arial"/>
              </a:rPr>
              <a:t>• content and citation sign-off</a:t>
            </a:r>
          </a:p>
          <a:p xmlns:a="http://schemas.openxmlformats.org/drawingml/2006/main">
            <a:pPr>
              <a:defRPr sz="1425" b="0" i="0">
                <a:solidFill>
                  <a:srgbClr val="24383A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4383A"/>
                </a:solidFill>
                <a:latin typeface="Arial"/>
                <a:ea typeface="Arial"/>
                <a:cs typeface="Arial"/>
              </a:rPr>
              <a:t>• revised findings deck and backup recording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8CC101-82E2-4C21-9161-3D25E40A9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102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C67142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C67142"/>
                </a:solidFill>
                <a:latin typeface="Arial"/>
                <a:ea typeface="Arial"/>
                <a:cs typeface="Arial"/>
              </a:rPr>
              <a:t>No human-study result is reported here until it exists in the exported dataset.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6EE079-57A9-4540-921C-53389518D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8706E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8706E"/>
                </a:solidFill>
                <a:latin typeface="Arial"/>
                <a:ea typeface="Arial"/>
                <a:cs typeface="Arial"/>
              </a:rPr>
              <a:t>ADAPTIVE LEARNING LOOP · TECHNICAL REBUILD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8CBEA5-B8B7-487F-A7F7-1FFA177DB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8706E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8706E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278820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2026-09-22T19:10:46.1820000Z</dcterms:created>
  <dcterms:modified xsi:type="dcterms:W3CDTF">2026-09-22T19:10:46.1820000Z</dcterms:modified>
</coreProperties>
</file>